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5" r:id="rId3"/>
    <p:sldId id="266" r:id="rId4"/>
    <p:sldId id="268" r:id="rId5"/>
    <p:sldId id="282" r:id="rId6"/>
    <p:sldId id="284" r:id="rId7"/>
    <p:sldId id="285" r:id="rId8"/>
    <p:sldId id="286" r:id="rId9"/>
    <p:sldId id="287" r:id="rId10"/>
    <p:sldId id="288" r:id="rId11"/>
    <p:sldId id="290" r:id="rId12"/>
    <p:sldId id="274" r:id="rId13"/>
    <p:sldId id="281" r:id="rId14"/>
    <p:sldId id="291" r:id="rId15"/>
    <p:sldId id="292" r:id="rId16"/>
    <p:sldId id="259" r:id="rId17"/>
  </p:sldIdLst>
  <p:sldSz cx="12192000" cy="6858000"/>
  <p:notesSz cx="6858000" cy="9144000"/>
  <p:embeddedFontLst>
    <p:embeddedFont>
      <p:font typeface="Libre Baskerville" panose="02000000000000000000" pitchFamily="2" charset="0"/>
      <p:regular r:id="rId19"/>
      <p:bold r:id="rId20"/>
      <p:italic r:id="rId21"/>
    </p:embeddedFont>
    <p:embeddedFont>
      <p:font typeface="Segoe UI" panose="020B0502040204020203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673768" y="3877925"/>
            <a:ext cx="1084446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3200" dirty="0"/>
              <a:t>📡</a:t>
            </a:r>
            <a:r>
              <a:rPr lang="en-GB" sz="32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  <a:r>
              <a:rPr lang="en-GB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ustomer </a:t>
            </a:r>
            <a:r>
              <a:rPr lang="en-GB" sz="32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  <a:r>
              <a:rPr lang="en-GB" sz="3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hurn</a:t>
            </a:r>
            <a:r>
              <a:rPr lang="en-GB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32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GB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nalysis – </a:t>
            </a:r>
            <a:r>
              <a:rPr lang="en-GB" sz="32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lang="en-GB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isk &amp; </a:t>
            </a:r>
            <a:r>
              <a:rPr lang="en-GB" sz="32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lang="en-GB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evenue </a:t>
            </a:r>
            <a:r>
              <a:rPr lang="en-GB" sz="32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lang="en-GB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nsights</a:t>
            </a:r>
            <a:endParaRPr sz="3200" b="1" i="0" u="none" strike="noStrike" cap="none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C9916-B8B2-300C-7479-B1BE7A2EF7DF}"/>
              </a:ext>
            </a:extLst>
          </p:cNvPr>
          <p:cNvSpPr txBox="1"/>
          <p:nvPr/>
        </p:nvSpPr>
        <p:spPr>
          <a:xfrm>
            <a:off x="4385323" y="5250022"/>
            <a:ext cx="4205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Prepared/</a:t>
            </a:r>
            <a:r>
              <a:rPr lang="en-GB" dirty="0"/>
              <a:t>Presented</a:t>
            </a:r>
            <a:r>
              <a:rPr lang="en-GB" spc="-50" dirty="0"/>
              <a:t> </a:t>
            </a:r>
            <a:r>
              <a:rPr lang="en-GB" dirty="0"/>
              <a:t>By</a:t>
            </a:r>
            <a:r>
              <a:rPr lang="en-GB" spc="-55" dirty="0"/>
              <a:t> </a:t>
            </a:r>
            <a:r>
              <a:rPr lang="en-GB" dirty="0"/>
              <a:t>:-</a:t>
            </a:r>
            <a:r>
              <a:rPr lang="en-GB" spc="-55" dirty="0"/>
              <a:t> </a:t>
            </a:r>
            <a:r>
              <a:rPr lang="en-GB" sz="18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Vishal</a:t>
            </a:r>
            <a:r>
              <a:rPr lang="en-GB" sz="1800" spc="-55" dirty="0"/>
              <a:t> </a:t>
            </a:r>
            <a:r>
              <a:rPr lang="en-GB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Sanjay</a:t>
            </a:r>
            <a:r>
              <a:rPr lang="en-GB" sz="1800" spc="-55" dirty="0"/>
              <a:t> </a:t>
            </a:r>
            <a:r>
              <a:rPr lang="en-GB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Raut</a:t>
            </a:r>
          </a:p>
          <a:p>
            <a:r>
              <a:rPr lang="en-IN" dirty="0"/>
              <a:t>	Tool Used: Power BI</a:t>
            </a:r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541776" cy="85102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Segoe UI" panose="020B0502040204020203" pitchFamily="34" charset="0"/>
                <a:ea typeface="Lato Black" panose="020F0502020204030203" pitchFamily="34" charset="0"/>
                <a:cs typeface="Segoe UI" panose="020B0502040204020203" pitchFamily="34" charset="0"/>
              </a:rPr>
              <a:t>AGENDA</a:t>
            </a:r>
            <a:r>
              <a:rPr lang="en-IN" sz="3200" dirty="0"/>
              <a:t> 📋</a:t>
            </a:r>
            <a:endParaRPr sz="3200" dirty="0">
              <a:solidFill>
                <a:srgbClr val="C00000"/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6182"/>
            <a:ext cx="10515600" cy="478078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sz="2000" dirty="0"/>
              <a:t>• </a:t>
            </a:r>
            <a:r>
              <a:rPr lang="en-IN" sz="2000" dirty="0"/>
              <a:t>Business Problem </a:t>
            </a:r>
            <a:endParaRPr sz="2000" dirty="0"/>
          </a:p>
          <a:p>
            <a:pPr marL="114300" indent="0">
              <a:buNone/>
            </a:pPr>
            <a:r>
              <a:rPr sz="2000" dirty="0"/>
              <a:t>• </a:t>
            </a:r>
            <a:r>
              <a:rPr lang="en-US" sz="2000" dirty="0"/>
              <a:t>Dataset Overview</a:t>
            </a:r>
            <a:endParaRPr sz="2000" dirty="0"/>
          </a:p>
          <a:p>
            <a:pPr marL="114300" indent="0">
              <a:buNone/>
            </a:pPr>
            <a:r>
              <a:rPr sz="2000" dirty="0"/>
              <a:t>• </a:t>
            </a:r>
            <a:r>
              <a:rPr lang="en-IN" sz="2000" dirty="0"/>
              <a:t>Key Performance Indicators(KPI’s)</a:t>
            </a:r>
            <a:endParaRPr sz="2000" dirty="0"/>
          </a:p>
          <a:p>
            <a:pPr marL="114300" indent="0">
              <a:buNone/>
            </a:pPr>
            <a:r>
              <a:rPr sz="2000" dirty="0"/>
              <a:t>• </a:t>
            </a:r>
            <a:r>
              <a:rPr lang="en-IN" sz="2000" dirty="0"/>
              <a:t>Churn Drivers Analysis  </a:t>
            </a:r>
          </a:p>
          <a:p>
            <a:pPr marL="114300" indent="0">
              <a:buNone/>
            </a:pPr>
            <a:r>
              <a:rPr lang="en-IN" sz="2000" dirty="0"/>
              <a:t>• Churn Risk Analysis</a:t>
            </a:r>
            <a:endParaRPr lang="en-US" sz="2000" dirty="0"/>
          </a:p>
          <a:p>
            <a:pPr marL="114300" indent="0">
              <a:buSzPct val="130000"/>
              <a:buNone/>
            </a:pPr>
            <a:r>
              <a:rPr lang="en-IN" sz="2000" dirty="0"/>
              <a:t>• Revenue Impact of Churn</a:t>
            </a:r>
          </a:p>
          <a:p>
            <a:pPr marL="114300" indent="0">
              <a:buSzPct val="130000"/>
              <a:buNone/>
            </a:pPr>
            <a:r>
              <a:rPr lang="en-IN" sz="2000" dirty="0"/>
              <a:t>• Key Insights &amp; Recommendations</a:t>
            </a:r>
          </a:p>
          <a:p>
            <a:pPr marL="114300" indent="0">
              <a:buSzPct val="130000"/>
              <a:buNone/>
            </a:pPr>
            <a:r>
              <a:rPr lang="en-IN" sz="2000" dirty="0"/>
              <a:t>• Final Dashboard</a:t>
            </a:r>
          </a:p>
          <a:p>
            <a:pPr marL="114300" indent="0">
              <a:buSzPct val="130000"/>
              <a:buNone/>
            </a:pPr>
            <a:r>
              <a:rPr lang="en-IN" sz="2000" dirty="0"/>
              <a:t>• Conclusion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632158" cy="101561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BUSINESS PROBLEM</a:t>
            </a:r>
            <a:r>
              <a:rPr lang="en-IN" sz="3200" dirty="0">
                <a:latin typeface="Segoe UI" panose="020B0502040204020203" pitchFamily="34" charset="0"/>
                <a:cs typeface="Segoe UI" panose="020B0502040204020203" pitchFamily="34" charset="0"/>
              </a:rPr>
              <a:t> ⚠️</a:t>
            </a:r>
            <a:endParaRPr sz="3200" dirty="0">
              <a:solidFill>
                <a:srgbClr val="C00000"/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3798"/>
            <a:ext cx="10515600" cy="437766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sz="2000" dirty="0"/>
              <a:t>• </a:t>
            </a:r>
            <a:r>
              <a:rPr lang="en-GB" sz="2000" dirty="0"/>
              <a:t>Telecom companies face high customer churn.</a:t>
            </a:r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r>
              <a:rPr sz="2000" dirty="0"/>
              <a:t>• </a:t>
            </a:r>
            <a:r>
              <a:rPr lang="en-GB" sz="2000" dirty="0"/>
              <a:t>Acquiring new customers is more expensive than retaining existing ones.</a:t>
            </a:r>
          </a:p>
          <a:p>
            <a:pPr marL="114300" indent="0">
              <a:buNone/>
            </a:pPr>
            <a:endParaRPr sz="2000" dirty="0"/>
          </a:p>
          <a:p>
            <a:pPr marL="114300" indent="0">
              <a:buNone/>
            </a:pPr>
            <a:r>
              <a:rPr sz="2000" dirty="0"/>
              <a:t>• </a:t>
            </a:r>
            <a:r>
              <a:rPr lang="en-GB" sz="2000" dirty="0"/>
              <a:t>The business lacks clarity on:</a:t>
            </a:r>
          </a:p>
          <a:p>
            <a:pPr marL="114300" indent="0">
              <a:buNone/>
            </a:pPr>
            <a:r>
              <a:rPr lang="en-GB" sz="2000" dirty="0"/>
              <a:t>	</a:t>
            </a:r>
            <a:r>
              <a:rPr lang="en-IN" sz="2000" dirty="0"/>
              <a:t> </a:t>
            </a:r>
            <a:r>
              <a:rPr lang="en-IN" sz="1600" dirty="0"/>
              <a:t>• </a:t>
            </a:r>
            <a:r>
              <a:rPr lang="en-IN" sz="2000" dirty="0"/>
              <a:t>Why customers are leaving?</a:t>
            </a:r>
          </a:p>
          <a:p>
            <a:pPr marL="114300" indent="0">
              <a:buNone/>
            </a:pPr>
            <a:r>
              <a:rPr lang="en-IN" sz="1600" dirty="0"/>
              <a:t>	 • </a:t>
            </a:r>
            <a:r>
              <a:rPr lang="en-GB" sz="2000" dirty="0"/>
              <a:t>Which customers are at high risk?</a:t>
            </a:r>
          </a:p>
          <a:p>
            <a:pPr marL="114300" indent="0">
              <a:buNone/>
            </a:pPr>
            <a:r>
              <a:rPr lang="en-IN" sz="1600" dirty="0"/>
              <a:t>	 • </a:t>
            </a:r>
            <a:r>
              <a:rPr lang="en-GB" sz="2000" dirty="0"/>
              <a:t>How much revenue is being lost due to churn?</a:t>
            </a:r>
          </a:p>
          <a:p>
            <a:pPr marL="114300" indent="0">
              <a:buNone/>
            </a:pPr>
            <a:endParaRPr lang="en-GB" sz="2000" dirty="0"/>
          </a:p>
          <a:p>
            <a:pPr marL="114300" indent="0">
              <a:buNone/>
            </a:pPr>
            <a:endParaRPr lang="en-GB" sz="2000" dirty="0"/>
          </a:p>
          <a:p>
            <a:pPr marL="114300" indent="0" algn="ctr">
              <a:buNone/>
            </a:pPr>
            <a:r>
              <a:rPr lang="en-GB" sz="2000" b="1" dirty="0">
                <a:solidFill>
                  <a:srgbClr val="C00000"/>
                </a:solidFill>
              </a:rPr>
              <a:t>Objective:</a:t>
            </a:r>
            <a:r>
              <a:rPr lang="en-GB" sz="2000" dirty="0">
                <a:solidFill>
                  <a:srgbClr val="C00000"/>
                </a:solidFill>
              </a:rPr>
              <a:t> </a:t>
            </a:r>
            <a:r>
              <a:rPr lang="en-GB" sz="2000" b="1" dirty="0" err="1"/>
              <a:t>Analyze</a:t>
            </a:r>
            <a:r>
              <a:rPr lang="en-GB" sz="2000" b="1" dirty="0"/>
              <a:t> churn drivers, identify high-risk customers, and assess revenue impact.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853" y="49458"/>
            <a:ext cx="5123688" cy="71553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Segoe UI" panose="020B0502040204020203" pitchFamily="34" charset="0"/>
                <a:ea typeface="Lato Black" panose="020F0502020204030203" pitchFamily="34" charset="0"/>
                <a:cs typeface="Segoe UI" panose="020B0502040204020203" pitchFamily="34" charset="0"/>
              </a:rPr>
              <a:t>DATASET OVERVIEW</a:t>
            </a:r>
            <a:endParaRPr sz="3200" dirty="0">
              <a:solidFill>
                <a:srgbClr val="C00000"/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DCA268-5AA3-0CDB-3CBB-4270557D6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627" y="5636113"/>
            <a:ext cx="1105054" cy="3238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7C315D-9FE3-0B27-F287-3864220C5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807" y="5016685"/>
            <a:ext cx="5197940" cy="103056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2A1D135-5968-2D0B-32BF-168522001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97" y="706606"/>
            <a:ext cx="8263879" cy="381160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B807B86-664C-44D9-0141-7A63DF0DEAF9}"/>
              </a:ext>
            </a:extLst>
          </p:cNvPr>
          <p:cNvSpPr txBox="1"/>
          <p:nvPr/>
        </p:nvSpPr>
        <p:spPr>
          <a:xfrm>
            <a:off x="669956" y="4831976"/>
            <a:ext cx="15263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DataSet</a:t>
            </a: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 Shape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0581C4D7-445D-F6E1-52E0-8D77689827E0}"/>
              </a:ext>
            </a:extLst>
          </p:cNvPr>
          <p:cNvSpPr/>
          <p:nvPr/>
        </p:nvSpPr>
        <p:spPr>
          <a:xfrm rot="5400000">
            <a:off x="1246094" y="5270936"/>
            <a:ext cx="313765" cy="2082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2A914E-CDD4-12E5-37EF-55A1978A8545}"/>
              </a:ext>
            </a:extLst>
          </p:cNvPr>
          <p:cNvSpPr txBox="1"/>
          <p:nvPr/>
        </p:nvSpPr>
        <p:spPr>
          <a:xfrm>
            <a:off x="2469777" y="4604057"/>
            <a:ext cx="18825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Dataset Columns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0A3823CD-160F-2F14-0773-FDD45A36725C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95517" y="4976332"/>
            <a:ext cx="589355" cy="4837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B908CCA-8E2E-E8AF-C643-439CE7D344DC}"/>
              </a:ext>
            </a:extLst>
          </p:cNvPr>
          <p:cNvSpPr txBox="1"/>
          <p:nvPr/>
        </p:nvSpPr>
        <p:spPr>
          <a:xfrm>
            <a:off x="9332259" y="842682"/>
            <a:ext cx="268044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Dataset represents telecom customers.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Total Customers: </a:t>
            </a:r>
            <a:r>
              <a:rPr lang="en-IN" b="1" dirty="0"/>
              <a:t>7,043</a:t>
            </a:r>
          </a:p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Key data fields include:</a:t>
            </a:r>
          </a:p>
          <a:p>
            <a:endParaRPr lang="en-IN" dirty="0"/>
          </a:p>
          <a:p>
            <a:r>
              <a:rPr lang="en-IN" dirty="0"/>
              <a:t>     • CustomerID</a:t>
            </a:r>
          </a:p>
          <a:p>
            <a:r>
              <a:rPr lang="en-IN" dirty="0"/>
              <a:t>     • Customer tenure</a:t>
            </a:r>
          </a:p>
          <a:p>
            <a:r>
              <a:rPr lang="en-IN" dirty="0"/>
              <a:t>     • Contract type</a:t>
            </a:r>
          </a:p>
          <a:p>
            <a:r>
              <a:rPr lang="en-IN" dirty="0"/>
              <a:t>     • Payment method</a:t>
            </a:r>
          </a:p>
          <a:p>
            <a:r>
              <a:rPr lang="en-IN" dirty="0"/>
              <a:t>     • Monthly charges</a:t>
            </a:r>
          </a:p>
          <a:p>
            <a:r>
              <a:rPr lang="en-IN" dirty="0"/>
              <a:t>     • Churn status (Yes / No)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14F24-860E-BD1B-519F-89CCD8E93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7DCA-84E1-8756-DA3F-8FFAB905A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961" y="301117"/>
            <a:ext cx="7133331" cy="942467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Performance Indicators(KPI’s)</a:t>
            </a:r>
            <a:endParaRPr sz="3200" dirty="0">
              <a:solidFill>
                <a:srgbClr val="C00000"/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81FCCA6-4678-5A2C-1C74-CF0522BBB6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94734" y="1847373"/>
            <a:ext cx="520126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 typeface="Arial" panose="020B0604020202020204" pitchFamily="34" charset="0"/>
              <a:buChar char="•"/>
            </a:pPr>
            <a:r>
              <a:rPr lang="en-IN" sz="2000" b="1" dirty="0"/>
              <a:t>Overall Churn Rate:</a:t>
            </a:r>
            <a:r>
              <a:rPr lang="en-IN" sz="2000" dirty="0"/>
              <a:t> 26.54%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 typeface="Arial" panose="020B0604020202020204" pitchFamily="34" charset="0"/>
              <a:buChar char="•"/>
            </a:pPr>
            <a:r>
              <a:rPr lang="en-IN" sz="2000" b="1" dirty="0"/>
              <a:t>Total Customers:</a:t>
            </a:r>
            <a:r>
              <a:rPr lang="en-IN" sz="2000" dirty="0"/>
              <a:t> 7,043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 typeface="Arial" panose="020B0604020202020204" pitchFamily="34" charset="0"/>
              <a:buChar char="•"/>
            </a:pPr>
            <a:r>
              <a:rPr lang="en-IN" sz="2000" b="1" dirty="0"/>
              <a:t>Total Churned Customers:</a:t>
            </a:r>
            <a:r>
              <a:rPr lang="en-IN" sz="2000" dirty="0"/>
              <a:t> 1,869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 typeface="Arial" panose="020B0604020202020204" pitchFamily="34" charset="0"/>
              <a:buChar char="•"/>
            </a:pPr>
            <a:r>
              <a:rPr lang="en-IN" sz="2000" b="1" dirty="0"/>
              <a:t>Revenue Lost:</a:t>
            </a:r>
            <a:r>
              <a:rPr lang="en-IN" sz="2000" dirty="0"/>
              <a:t> ₹2.86M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7465E2-A604-B36E-1F02-D56DA5A15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781" y="1807362"/>
            <a:ext cx="3229426" cy="11241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3853C08-A7F6-7E16-E8DE-F6E71EB8C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4251" y="1807362"/>
            <a:ext cx="3248478" cy="110505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2188E1E-D841-D2C2-9B69-5AA54EC20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781" y="3359715"/>
            <a:ext cx="3258005" cy="11336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AA64549-449D-82E3-E2BC-24526C8AFD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619" y="3369241"/>
            <a:ext cx="2981741" cy="112410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1A74D9A-DD07-F0BA-24C3-3D905B878D1D}"/>
              </a:ext>
            </a:extLst>
          </p:cNvPr>
          <p:cNvSpPr txBox="1"/>
          <p:nvPr/>
        </p:nvSpPr>
        <p:spPr>
          <a:xfrm>
            <a:off x="3146611" y="5432612"/>
            <a:ext cx="5898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Insight :</a:t>
            </a:r>
          </a:p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Nearly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1 in 4 customers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have churned, causing significant revenue loss.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223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072A1-7A00-6DD5-DF41-117F2EB4B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78C2-2992-D526-BD29-BA2D1387A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121" y="-242625"/>
            <a:ext cx="7397995" cy="1347020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Churn Rate by Contract Type</a:t>
            </a:r>
            <a:endParaRPr sz="3200" dirty="0">
              <a:solidFill>
                <a:srgbClr val="C00000"/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D22C7F5-6B09-30CD-9A2D-ADE646742C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0082" y="1028344"/>
            <a:ext cx="64008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Content: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None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None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	•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Month-to-month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customers have the  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highest churn 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rate.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None/>
            </a:pPr>
            <a:endParaRPr kumimoji="0" lang="en-GB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None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	•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Customers on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one-year and two-year 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contracts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churn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significantly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less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altLang="en-US" sz="2000" dirty="0">
              <a:solidFill>
                <a:schemeClr val="tx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A1A8F6-678B-1575-1720-8677786149EA}"/>
              </a:ext>
            </a:extLst>
          </p:cNvPr>
          <p:cNvSpPr txBox="1"/>
          <p:nvPr/>
        </p:nvSpPr>
        <p:spPr>
          <a:xfrm>
            <a:off x="379121" y="4222376"/>
            <a:ext cx="591410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endParaRPr lang="en-IN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   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Customers without long-term commitment are more likely to leave.</a:t>
            </a:r>
            <a:endParaRPr lang="en-IN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5FF63E-E290-0A08-E6C2-717026308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882" y="1580892"/>
            <a:ext cx="5039428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471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D39C5-7BF7-586D-27A9-928F93AB4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48708-474C-C6F9-99B3-648E5AFED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835" y="0"/>
            <a:ext cx="7133331" cy="1164443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Churn Rate by Payment Method</a:t>
            </a:r>
            <a:endParaRPr sz="3200" dirty="0">
              <a:solidFill>
                <a:srgbClr val="C00000"/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9D20E23-D472-F98B-93A2-368891BF4F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95835" y="1425972"/>
            <a:ext cx="599739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None/>
            </a:pPr>
            <a:r>
              <a:rPr lang="en-IN" sz="20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None/>
            </a:pPr>
            <a:endParaRPr lang="en-IN" sz="2000" b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None/>
            </a:pP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     </a:t>
            </a: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Electronic check 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users show the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highest      churn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None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None/>
            </a:pP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      </a:t>
            </a: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Customers using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automatic payment    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methods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churn less.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515BC-1D75-BAEC-3558-75B4277194E0}"/>
              </a:ext>
            </a:extLst>
          </p:cNvPr>
          <p:cNvSpPr txBox="1"/>
          <p:nvPr/>
        </p:nvSpPr>
        <p:spPr>
          <a:xfrm>
            <a:off x="295834" y="4598894"/>
            <a:ext cx="55939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r>
              <a:rPr lang="en-GB" sz="2000" dirty="0"/>
              <a:t>     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Payment convenience and trust influence customer retention.</a:t>
            </a:r>
            <a:endParaRPr lang="en-IN" sz="2000" b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29A01-EA68-1450-D69C-B3CD4B57D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45" y="1684266"/>
            <a:ext cx="5048955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135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7AEA7-9BA2-8757-845E-073239F8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54006-9EEA-E063-3EA2-EEDDEF4A8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49" y="68035"/>
            <a:ext cx="7133331" cy="1262212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Churn Rate by Customer Tenure</a:t>
            </a:r>
            <a:endParaRPr sz="3200" dirty="0">
              <a:solidFill>
                <a:srgbClr val="C00000"/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BFA05CB-CE76-D75D-BF0F-53719C26C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574730"/>
            <a:ext cx="6054765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Content:</a:t>
            </a:r>
          </a:p>
          <a:p>
            <a:pPr lvl="1"/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New customers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(0–1 year) 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have the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highest churn.</a:t>
            </a:r>
          </a:p>
          <a:p>
            <a:pPr marL="571500" lvl="1" indent="0">
              <a:buNone/>
            </a:pPr>
            <a:endParaRPr lang="en-GB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Churn decreases 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as customer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tenure increases.</a:t>
            </a:r>
          </a:p>
          <a:p>
            <a:pPr marL="114300" indent="0">
              <a:buNone/>
            </a:pPr>
            <a:endParaRPr lang="en-GB" sz="2000" dirty="0"/>
          </a:p>
          <a:p>
            <a:endParaRPr lang="en-GB" sz="2000" dirty="0"/>
          </a:p>
          <a:p>
            <a:r>
              <a:rPr lang="en-GB" sz="20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pPr lvl="1"/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Early customer experience plays a critical role in retention.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E71C85-E809-4BB8-13D3-8AEA2300A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127" y="1574730"/>
            <a:ext cx="5077534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526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91F6D-229D-E9CF-3197-D3C4D6E2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BC67-53BE-3328-4AEA-5E6DE1815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96" y="138853"/>
            <a:ext cx="7133331" cy="1159487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Churn Risk Analysis</a:t>
            </a:r>
            <a:endParaRPr sz="3200" dirty="0">
              <a:solidFill>
                <a:srgbClr val="C00000"/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076D0DB-0C0E-5938-5DEA-9AB3D1B9F4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6188" y="1095097"/>
            <a:ext cx="7198659" cy="5226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Content:</a:t>
            </a:r>
          </a:p>
          <a:p>
            <a:pPr lvl="1"/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A rule-based churn risk score was created.</a:t>
            </a:r>
          </a:p>
          <a:p>
            <a:pPr lvl="1"/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Risk score is based on:</a:t>
            </a:r>
          </a:p>
          <a:p>
            <a:pPr lvl="2"/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Contract type</a:t>
            </a:r>
          </a:p>
          <a:p>
            <a:pPr lvl="2"/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Tenure</a:t>
            </a:r>
          </a:p>
          <a:p>
            <a:pPr lvl="2"/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Monthly charges</a:t>
            </a:r>
          </a:p>
          <a:p>
            <a:pPr lvl="2"/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Payment method</a:t>
            </a:r>
          </a:p>
          <a:p>
            <a:pPr lvl="1"/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Customers are grouped into:</a:t>
            </a:r>
          </a:p>
          <a:p>
            <a:pPr lvl="2"/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Low Risk</a:t>
            </a:r>
          </a:p>
          <a:p>
            <a:pPr lvl="2"/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Medium Risk</a:t>
            </a:r>
          </a:p>
          <a:p>
            <a:pPr lvl="2"/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High Risk</a:t>
            </a:r>
          </a:p>
          <a:p>
            <a:pPr lvl="2"/>
            <a:endParaRPr lang="en-GB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0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pPr lvl="1"/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Customers classified as high risk show a significantly higher likelihood of churn compared to low-risk customers.</a:t>
            </a:r>
          </a:p>
          <a:p>
            <a:pPr marL="1028700" lvl="2" indent="0">
              <a:buNone/>
            </a:pPr>
            <a:endParaRPr lang="en-GB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63158D-2744-40AD-4B33-8B75AFED3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721" y="1547550"/>
            <a:ext cx="5115639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48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7EC78-1DCF-F67F-C079-BD087572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F563E-1817-2AE3-A7EC-520C839CC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26" y="-270735"/>
            <a:ext cx="7133331" cy="1681375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Churn Concentration by Risk Category</a:t>
            </a:r>
            <a:endParaRPr sz="3200" dirty="0">
              <a:solidFill>
                <a:srgbClr val="C00000"/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60723AC-A46A-D590-F1A2-9D991C696C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5026" y="1272000"/>
            <a:ext cx="6528700" cy="4314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Content:</a:t>
            </a:r>
          </a:p>
          <a:p>
            <a:pPr marL="114300" indent="0">
              <a:buNone/>
            </a:pPr>
            <a:endParaRPr lang="en-GB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High-risk customers 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have the highest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churn rate.</a:t>
            </a:r>
          </a:p>
          <a:p>
            <a:pPr marL="571500" lvl="1" indent="0">
              <a:buNone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Low-risk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customers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churn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very little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571500" lvl="1" indent="0">
              <a:buNone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71500" lvl="1" indent="0">
              <a:buNone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0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pPr marL="114300" indent="0">
              <a:buNone/>
            </a:pPr>
            <a:endParaRPr lang="en-GB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Risk scoring effectively identifies churn-prone customers.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8441E-71E5-DA0E-8424-A7B50F182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162" y="1583528"/>
            <a:ext cx="5068007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793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3B31E-51DB-4E24-EE7A-29C31F0F4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BAB01-CF2D-C0EF-16C1-9C7B8A959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84" y="245883"/>
            <a:ext cx="7133331" cy="942467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Revenue Impact of Churn</a:t>
            </a:r>
            <a:endParaRPr sz="3200" dirty="0">
              <a:solidFill>
                <a:srgbClr val="C00000"/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B7620F8-32DE-A74A-D06E-5F5008CB9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34" y="1623935"/>
            <a:ext cx="6054765" cy="3870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Content:</a:t>
            </a:r>
          </a:p>
          <a:p>
            <a:endParaRPr lang="en-GB" sz="2000" b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Retained customers </a:t>
            </a: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contribute significantly </a:t>
            </a: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more revenue.</a:t>
            </a:r>
          </a:p>
          <a:p>
            <a:pPr lvl="1"/>
            <a:endParaRPr lang="en-GB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Churned customers </a:t>
            </a: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result in major </a:t>
            </a: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revenue loss</a:t>
            </a: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/>
            <a:endParaRPr lang="en-GB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endParaRPr lang="en-GB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0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</a:p>
          <a:p>
            <a:endParaRPr lang="en-GB" sz="2000" b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Reducing churn directly improves business profitability</a:t>
            </a: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F85224-327B-06D7-A9C7-7E0C3DD17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159" y="1774185"/>
            <a:ext cx="5058481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26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211824" cy="92417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 INSIGHTS (SUMMARY)</a:t>
            </a:r>
            <a:endParaRPr sz="3200" dirty="0">
              <a:solidFill>
                <a:srgbClr val="C00000"/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4677"/>
            <a:ext cx="10515600" cy="4823651"/>
          </a:xfrm>
        </p:spPr>
        <p:txBody>
          <a:bodyPr>
            <a:normAutofit/>
          </a:bodyPr>
          <a:lstStyle/>
          <a:p>
            <a:pPr>
              <a:buSzPct val="130000"/>
              <a:buFont typeface="Arial" panose="020B0604020202020204" pitchFamily="34" charset="0"/>
              <a:buChar char="•"/>
            </a:pP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Month-to-month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customers have the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highest churn.</a:t>
            </a:r>
          </a:p>
          <a:p>
            <a:pPr>
              <a:buSzPct val="130000"/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fontAlgn="base"/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Short-tenure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users are the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most unsafe.</a:t>
            </a:r>
          </a:p>
          <a:p>
            <a:pPr>
              <a:buSzPct val="130000"/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SzPct val="130000"/>
              <a:buFont typeface="Arial" panose="020B0604020202020204" pitchFamily="34" charset="0"/>
              <a:buChar char="•"/>
            </a:pP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High-risk customers 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drive major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revenue loss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buSzPct val="130000"/>
              <a:buFont typeface="Arial" panose="020B0604020202020204" pitchFamily="34" charset="0"/>
              <a:buChar char="•"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SzPct val="130000"/>
              <a:buFont typeface="Arial" panose="020B0604020202020204" pitchFamily="34" charset="0"/>
              <a:buChar char="•"/>
            </a:pP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Early retention 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can significantly 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improve revenue.</a:t>
            </a: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3A9CB-A283-A04E-153F-05C802F3F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565" y="0"/>
            <a:ext cx="4477871" cy="57374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Final</a:t>
            </a:r>
            <a:r>
              <a:rPr lang="en-US" sz="32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</a:t>
            </a:r>
            <a:endParaRPr lang="en-IN" sz="32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A022A1-7905-1ECD-7A4E-1DA724E1B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65" y="469630"/>
            <a:ext cx="10912657" cy="576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339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F8C7EF-C665-D97E-FF32-104C71949772}"/>
              </a:ext>
            </a:extLst>
          </p:cNvPr>
          <p:cNvSpPr txBox="1"/>
          <p:nvPr/>
        </p:nvSpPr>
        <p:spPr>
          <a:xfrm>
            <a:off x="950259" y="161365"/>
            <a:ext cx="55491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Recommended Actions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E7D461-758E-8E77-8141-504E4E682DC1}"/>
              </a:ext>
            </a:extLst>
          </p:cNvPr>
          <p:cNvSpPr txBox="1"/>
          <p:nvPr/>
        </p:nvSpPr>
        <p:spPr>
          <a:xfrm>
            <a:off x="1039906" y="1690062"/>
            <a:ext cx="738691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Encourage long-term contracts for new customers.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Improve onboarding experience during first 3 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Provide targeted offers to high-risk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Use churn risk score for proactive retention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491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B62108-200E-BD28-2350-1F1BCBE7232A}"/>
              </a:ext>
            </a:extLst>
          </p:cNvPr>
          <p:cNvSpPr txBox="1"/>
          <p:nvPr/>
        </p:nvSpPr>
        <p:spPr>
          <a:xfrm>
            <a:off x="3361765" y="394447"/>
            <a:ext cx="4984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52E16-2CAB-00EA-E730-80586917E14F}"/>
              </a:ext>
            </a:extLst>
          </p:cNvPr>
          <p:cNvSpPr txBox="1"/>
          <p:nvPr/>
        </p:nvSpPr>
        <p:spPr>
          <a:xfrm>
            <a:off x="1322294" y="1963270"/>
            <a:ext cx="95474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This project demonstrates that customer churn is driven primarily by contract type, tenure, and payment </a:t>
            </a:r>
            <a:r>
              <a:rPr lang="en-GB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behavior</a:t>
            </a:r>
            <a:r>
              <a:rPr lang="en-GB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. By identifying high-risk customers early and focusing on retention strategies, telecom companies can significantly reduce  revenue loss.</a:t>
            </a:r>
            <a:endParaRPr lang="en-IN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320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3571</TotalTime>
  <Words>569</Words>
  <Application>Microsoft Office PowerPoint</Application>
  <PresentationFormat>Widescreen</PresentationFormat>
  <Paragraphs>137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Wingdings</vt:lpstr>
      <vt:lpstr>Segoe UI</vt:lpstr>
      <vt:lpstr>Calibri</vt:lpstr>
      <vt:lpstr>Arial</vt:lpstr>
      <vt:lpstr>Libre Baskerville</vt:lpstr>
      <vt:lpstr>Office Theme</vt:lpstr>
      <vt:lpstr>PowerPoint Presentation</vt:lpstr>
      <vt:lpstr>AGENDA 📋</vt:lpstr>
      <vt:lpstr>BUSINESS PROBLEM ⚠️</vt:lpstr>
      <vt:lpstr>DATASET OVERVIEW</vt:lpstr>
      <vt:lpstr>Key Performance Indicators(KPI’s)</vt:lpstr>
      <vt:lpstr>Churn Rate by Contract Type</vt:lpstr>
      <vt:lpstr>Churn Rate by Payment Method</vt:lpstr>
      <vt:lpstr>Churn Rate by Customer Tenure</vt:lpstr>
      <vt:lpstr>Churn Risk Analysis</vt:lpstr>
      <vt:lpstr>Churn Concentration by Risk Category</vt:lpstr>
      <vt:lpstr>Revenue Impact of Churn</vt:lpstr>
      <vt:lpstr>KEY INSIGHTS (SUMMARY)</vt:lpstr>
      <vt:lpstr>Final Dashboard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Vishal Raut</cp:lastModifiedBy>
  <cp:revision>169</cp:revision>
  <dcterms:created xsi:type="dcterms:W3CDTF">2021-02-16T05:19:01Z</dcterms:created>
  <dcterms:modified xsi:type="dcterms:W3CDTF">2026-02-08T19:04:51Z</dcterms:modified>
</cp:coreProperties>
</file>